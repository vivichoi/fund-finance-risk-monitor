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377440"/>
            <a:ext cx="137160" cy="2194560"/>
          </a:xfrm>
          <a:prstGeom prst="rect">
            <a:avLst/>
          </a:prstGeom>
          <a:solidFill>
            <a:srgbClr val="E5A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286000"/>
            <a:ext cx="10058400" cy="10972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Fund Finance Facility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9144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Risk 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931920"/>
            <a:ext cx="10058400" cy="5486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200" b="0">
                <a:solidFill>
                  <a:srgbClr val="E5A839"/>
                </a:solidFill>
                <a:latin typeface="Calibri"/>
              </a:rPr>
              <a:t>An engineering view of lender-side credit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663440"/>
            <a:ext cx="1005840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0">
                <a:solidFill>
                  <a:srgbClr val="808B9C"/>
                </a:solidFill>
                <a:latin typeface="Calibri"/>
              </a:rPr>
              <a:t>6 layers  •  4 industry-standard upgrades  •  14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808B9C"/>
                </a:solidFill>
                <a:latin typeface="Calibri"/>
              </a:rPr>
              <a:t>Why fund finance has no off-the-shelf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114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800">
                <a:solidFill>
                  <a:srgbClr val="2F3B4A"/>
                </a:solidFill>
                <a:latin typeface="Calibri"/>
              </a:rPr>
              <a:t>▸  A bank lends to a private fund — secured by uncalled commitments (subscription line) or by NAV (NAV facility).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800">
                <a:solidFill>
                  <a:srgbClr val="2F3B4A"/>
                </a:solidFill>
                <a:latin typeface="Calibri"/>
              </a:rPr>
              <a:t>▸  Risk question is not 'will the market go up?' but 'how much can we safely lend, where is the binding constraint, and when do we act?'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800">
                <a:solidFill>
                  <a:srgbClr val="2F3B4A"/>
                </a:solidFill>
                <a:latin typeface="Calibri"/>
              </a:rPr>
              <a:t>▸  Stack is fragmented: borrowing base + credit scoring + concentration + liquidity + covenants + stress + triggers. No QuantLib equivalent.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800">
                <a:solidFill>
                  <a:srgbClr val="2F3B4A"/>
                </a:solidFill>
                <a:latin typeface="Calibri"/>
              </a:rPr>
              <a:t>▸  Common interview gap: candidates can talk LTV, but cannot defend why LTV is the wrong covenant to watch first.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800">
                <a:solidFill>
                  <a:srgbClr val="2F3B4A"/>
                </a:solidFill>
                <a:latin typeface="Calibri"/>
              </a:rPr>
              <a:t>▸  This project is a self-contained, modular re-implementation of the underwriting logic — designed to be explained, not productionised.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4572000"/>
            <a:ext cx="4754880" cy="164592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78040" y="4709160"/>
            <a:ext cx="452628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Calibri"/>
              </a:rPr>
              <a:t>Design contribution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5029200"/>
            <a:ext cx="4526280" cy="11887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2F3B4A"/>
                </a:solidFill>
                <a:latin typeface="Calibri"/>
              </a:rPr>
              <a:t>Six reusable sub-problems, each borrowing a mature open-source / industry pattern, recomposed into one engine.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000" b="0">
                <a:solidFill>
                  <a:srgbClr val="808B9C"/>
                </a:solidFill>
                <a:latin typeface="Calibri"/>
              </a:rPr>
              <a:t>Fund Finance Facility Risk Monitor  |  Synthetic data — illustrative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000" b="0">
                <a:solidFill>
                  <a:srgbClr val="808B9C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Architecture: six composable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808B9C"/>
                </a:solidFill>
                <a:latin typeface="Calibri"/>
              </a:rPr>
              <a:t>Each layer borrows a mature open-source / industry pattern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4702629" cy="49377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0" y="1280160"/>
          <a:ext cx="49377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5878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Borrowed pattern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F3B4A"/>
                          </a:solidFill>
                          <a:latin typeface="Calibri"/>
                        </a:rPr>
                        <a:t>L5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F3B4A"/>
                          </a:solidFill>
                          <a:latin typeface="Calibri"/>
                        </a:rPr>
                        <a:t>Data ingest +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F3B4A"/>
                          </a:solidFill>
                          <a:latin typeface="Calibri"/>
                        </a:rPr>
                        <a:t>Collateral-mgmt range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F3B4A"/>
                          </a:solidFill>
                          <a:latin typeface="Calibri"/>
                        </a:rPr>
                        <a:t>L2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F3B4A"/>
                          </a:solidFill>
                          <a:latin typeface="Calibri"/>
                        </a:rPr>
                        <a:t>Credit / EL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F3B4A"/>
                          </a:solidFill>
                          <a:latin typeface="Calibri"/>
                        </a:rPr>
                        <a:t>Basel III IRB EL = PD × LGD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F3B4A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F3B4A"/>
                          </a:solidFill>
                          <a:latin typeface="Calibri"/>
                        </a:rPr>
                        <a:t>Borrowing base + HF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F3B4A"/>
                          </a:solidFill>
                          <a:latin typeface="Calibri"/>
                        </a:rPr>
                        <a:t>Aave / Compound Health Factor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F3B4A"/>
                          </a:solidFill>
                          <a:latin typeface="Calibri"/>
                        </a:rPr>
                        <a:t>L5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F3B4A"/>
                          </a:solidFill>
                          <a:latin typeface="Calibri"/>
                        </a:rPr>
                        <a:t>Liquidity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F3B4A"/>
                          </a:solidFill>
                          <a:latin typeface="Calibri"/>
                        </a:rPr>
                        <a:t>Per-asset haircut by days-to-sell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F3B4A"/>
                          </a:solidFill>
                          <a:latin typeface="Calibri"/>
                        </a:rPr>
                        <a:t>L3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F3B4A"/>
                          </a:solidFill>
                          <a:latin typeface="Calibri"/>
                        </a:rPr>
                        <a:t>Stress (3 views)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F3B4A"/>
                          </a:solidFill>
                          <a:latin typeface="Calibri"/>
                        </a:rPr>
                        <a:t>Sweep • reverse-per-covenant • multi-factor MC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F3B4A"/>
                          </a:solidFill>
                          <a:latin typeface="Calibri"/>
                        </a:rPr>
                        <a:t>L4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F3B4A"/>
                          </a:solidFill>
                          <a:latin typeface="Calibri"/>
                        </a:rPr>
                        <a:t>Covenants + triggers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F3B4A"/>
                          </a:solidFill>
                          <a:latin typeface="Calibri"/>
                        </a:rPr>
                        <a:t>Protective-relay with HF-aware cure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000" b="0">
                <a:solidFill>
                  <a:srgbClr val="808B9C"/>
                </a:solidFill>
                <a:latin typeface="Calibri"/>
              </a:rPr>
              <a:t>Fund Finance Facility Risk Monitor  |  Synthetic data — illustrative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000" b="0">
                <a:solidFill>
                  <a:srgbClr val="808B9C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Upgrade 1 — Basel III IRB expected-loss weighting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808B9C"/>
                </a:solidFill>
                <a:latin typeface="Calibri"/>
              </a:rPr>
              <a:t>Continuous risk-weighted collateral, not a step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486400" cy="9144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800" b="0">
                <a:solidFill>
                  <a:srgbClr val="2F3B4A"/>
                </a:solidFill>
                <a:latin typeface="Consolas"/>
              </a:rPr>
              <a:t>EL = PD × LGD       (Basel III IRB)
weight = max(0, 1 − EL / EL_CAP)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54864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Why this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486400" cy="27432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500">
                <a:solidFill>
                  <a:srgbClr val="2F3B4A"/>
                </a:solidFill>
                <a:latin typeface="Calibri"/>
              </a:rPr>
              <a:t>▸  v1: binary cliff at PD ≤ 3% — Family Office D excluded entirely.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500">
                <a:solidFill>
                  <a:srgbClr val="2F3B4A"/>
                </a:solidFill>
                <a:latin typeface="Calibri"/>
              </a:rPr>
              <a:t>▸  v2: continuous weight ∈ [0,1] — D contributes 50% (partial), B contributes 99%.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500">
                <a:solidFill>
                  <a:srgbClr val="2F3B4A"/>
                </a:solidFill>
                <a:latin typeface="Calibri"/>
              </a:rPr>
              <a:t>▸  Step changes in eligibility cause step changes in borrowing base.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500">
                <a:solidFill>
                  <a:srgbClr val="2F3B4A"/>
                </a:solidFill>
                <a:latin typeface="Calibri"/>
              </a:rPr>
              <a:t>▸  EE analogue: power-device derating curve, not bang-bang.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371600"/>
            <a:ext cx="50292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Per-LP impact (sample fund)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766560" y="178308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838200"/>
                <a:gridCol w="838200"/>
                <a:gridCol w="838200"/>
                <a:gridCol w="838200"/>
                <a:gridCol w="838200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LP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Rating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LGD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Pension Fund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0.50%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0.20%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Insurer B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AA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0.20%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0.07%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0.99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Endowment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BBB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2.00%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0.90%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Family Office 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NR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10.00%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5.00%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766560" y="4754880"/>
            <a:ext cx="5029200" cy="1371600"/>
          </a:xfrm>
          <a:prstGeom prst="roundRect">
            <a:avLst/>
          </a:prstGeom>
          <a:solidFill>
            <a:srgbClr val="F2F4F7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892040"/>
            <a:ext cx="45720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Calibri"/>
              </a:rPr>
              <a:t>Subscription line BB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257800"/>
            <a:ext cx="4572000" cy="8229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200" b="0">
                <a:solidFill>
                  <a:srgbClr val="2F3B4A"/>
                </a:solidFill>
                <a:latin typeface="Calibri"/>
              </a:rPr>
              <a:t>v1: 58.5  →  v2: 65.7  (because D now contributes
partially under continuous EL weighting)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000" b="0">
                <a:solidFill>
                  <a:srgbClr val="808B9C"/>
                </a:solidFill>
                <a:latin typeface="Calibri"/>
              </a:rPr>
              <a:t>Fund Finance Facility Risk Monitor  |  Synthetic data — illustrative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000" b="0">
                <a:solidFill>
                  <a:srgbClr val="808B9C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Upgrade 2 — Health Factor (Aave / Compound DeFi)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808B9C"/>
                </a:solidFill>
                <a:latin typeface="Calibri"/>
              </a:rPr>
              <a:t>One number, normalised, with a clear liquidation threshold at 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486400" cy="9144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800" b="0">
                <a:solidFill>
                  <a:srgbClr val="2F3B4A"/>
                </a:solidFill>
                <a:latin typeface="Consolas"/>
              </a:rPr>
              <a:t>HF = (effective_limit × liq_thresh) / drawn
    = (33.75 × 0.85) / 30  =  0.956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54864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Why this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486400" cy="27432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500">
                <a:solidFill>
                  <a:srgbClr val="2F3B4A"/>
                </a:solidFill>
                <a:latin typeface="Calibri"/>
              </a:rPr>
              <a:t>▸  Utilization has no distance concept — 89% does not tell you how far.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500">
                <a:solidFill>
                  <a:srgbClr val="2F3B4A"/>
                </a:solidFill>
                <a:latin typeface="Calibri"/>
              </a:rPr>
              <a:t>▸  HF is normalised: HF=1.0 is the liquidation threshold, period.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500">
                <a:solidFill>
                  <a:srgbClr val="2F3B4A"/>
                </a:solidFill>
                <a:latin typeface="Calibri"/>
              </a:rPr>
              <a:t>▸  Captures collateral × threshold × debt in one number — sample HF=0.956 → already in margin-call territory.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500">
                <a:solidFill>
                  <a:srgbClr val="2F3B4A"/>
                </a:solidFill>
                <a:latin typeface="Calibri"/>
              </a:rPr>
              <a:t>▸  EE analogue: stability margin (phase/gain margin).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371600"/>
            <a:ext cx="50292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Health Factor bands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1828800"/>
            <a:ext cx="365760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1874520"/>
            <a:ext cx="45720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1">
                <a:solidFill>
                  <a:srgbClr val="2F3B4A"/>
                </a:solidFill>
                <a:latin typeface="Calibri"/>
              </a:rPr>
              <a:t>HF ≥ 1.5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94560"/>
            <a:ext cx="457200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200" b="0">
                <a:solidFill>
                  <a:srgbClr val="2F3B4A"/>
                </a:solidFill>
                <a:latin typeface="Calibri"/>
              </a:rPr>
              <a:t>GREEN — safe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2697480"/>
            <a:ext cx="365760" cy="77724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2743200"/>
            <a:ext cx="45720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1">
                <a:solidFill>
                  <a:srgbClr val="2F3B4A"/>
                </a:solidFill>
                <a:latin typeface="Calibri"/>
              </a:rPr>
              <a:t>1.0 ≤ HF &lt; 1.5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063240"/>
            <a:ext cx="457200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200" b="0">
                <a:solidFill>
                  <a:srgbClr val="2F3B4A"/>
                </a:solidFill>
                <a:latin typeface="Calibri"/>
              </a:rPr>
              <a:t>AMBER — early warning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3566160"/>
            <a:ext cx="36576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3611880"/>
            <a:ext cx="45720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1">
                <a:solidFill>
                  <a:srgbClr val="2F3B4A"/>
                </a:solidFill>
                <a:latin typeface="Calibri"/>
              </a:rPr>
              <a:t>HF &lt; 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931920"/>
            <a:ext cx="457200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200" b="0">
                <a:solidFill>
                  <a:srgbClr val="2F3B4A"/>
                </a:solidFill>
                <a:latin typeface="Calibri"/>
              </a:rPr>
              <a:t>RED — margin call → default in cure_days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4572000"/>
            <a:ext cx="5029200" cy="15544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4709160"/>
            <a:ext cx="457200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Sample NAV facility today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5120640"/>
            <a:ext cx="4572000" cy="10058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HF = 0.956  →  RED  →  MARGIN CALL
HF-aware cure window = 5 days (vs 10 negotiated)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000" b="0">
                <a:solidFill>
                  <a:srgbClr val="808B9C"/>
                </a:solidFill>
                <a:latin typeface="Calibri"/>
              </a:rPr>
              <a:t>Fund Finance Facility Risk Monitor  |  Synthetic data — illustrative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000" b="0">
                <a:solidFill>
                  <a:srgbClr val="808B9C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Upgrade 3 — Multi-factor Monte Carlo (MSCI Barra style)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808B9C"/>
                </a:solidFill>
                <a:latin typeface="Calibri"/>
              </a:rPr>
              <a:t>Sector correlations + VaR + CVaR + per-sector attribution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What changed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486400" cy="1828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F3B4A"/>
                </a:solidFill>
                <a:latin typeface="Calibri"/>
              </a:rPr>
              <a:t>▸  v1: single lognormal × all assets (implicit: sectors 100% correlated).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F3B4A"/>
                </a:solidFill>
                <a:latin typeface="Calibri"/>
              </a:rPr>
              <a:t>▸  v2: 10-dim multivariate lognormal with MSCI-Barra-style correlation.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F3B4A"/>
                </a:solidFill>
                <a:latin typeface="Calibri"/>
              </a:rPr>
              <a:t>▸  Vectorised with numpy — ~100× speedup vs Python loop.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F3B4A"/>
                </a:solidFill>
                <a:latin typeface="Calibri"/>
              </a:rPr>
              <a:t>▸  Adds VaR(95), CVaR(99) and per-sector attribution.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54864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Two numbers, two stories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5486400" cy="21031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F3B4A"/>
                </a:solidFill>
                <a:latin typeface="Calibri"/>
              </a:rPr>
              <a:t>▸  P(LTV breach) drops 22% → 0% — diversification is now real.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F3B4A"/>
                </a:solidFill>
                <a:latin typeface="Calibri"/>
              </a:rPr>
              <a:t>▸  But CVaR(99) of LTV = 22.1%, glued to the 25% covenant cap.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F3B4A"/>
                </a:solidFill>
                <a:latin typeface="Calibri"/>
              </a:rPr>
              <a:t>▸  Single-shock MC hid both findings under one P(breach) number.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512064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Sample run — NAV facility, 6-month horizon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0" y="1783080"/>
          <a:ext cx="51206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</a:tblGrid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v1 (single shock)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v2 (multi-factor)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P(LTV breach)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VaR(95) of LTV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(n/a)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19.4%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CVaR(99) of LTV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(n/a)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22.1%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LTV p50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16.5%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15.7%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LTV p99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26.8%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21.2%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Sector attribution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(n/a)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Tech 49% / Fin 41% / Ind 32%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583680" y="5303520"/>
            <a:ext cx="5120640" cy="914400"/>
          </a:xfrm>
          <a:prstGeom prst="roundRect">
            <a:avLst/>
          </a:prstGeom>
          <a:solidFill>
            <a:srgbClr val="F2F4F7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5440680"/>
            <a:ext cx="4754880" cy="8229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200" b="0">
                <a:solidFill>
                  <a:srgbClr val="2F3B4A"/>
                </a:solidFill>
                <a:latin typeface="Calibri"/>
              </a:rPr>
              <a:t>EE analogue: cross-PSD noise analysis — each sector has its own variance, off-diagonal coupling describes how they move together.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000" b="0">
                <a:solidFill>
                  <a:srgbClr val="808B9C"/>
                </a:solidFill>
                <a:latin typeface="Calibri"/>
              </a:rPr>
              <a:t>Fund Finance Facility Risk Monitor  |  Synthetic data — illustrative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000" b="0">
                <a:solidFill>
                  <a:srgbClr val="808B9C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Upgrade 4 — Reverse stress per covenant (Basel SR 11-7)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808B9C"/>
                </a:solidFill>
                <a:latin typeface="Calibri"/>
              </a:rPr>
              <a:t>Distance-to-breach ranked across every covenant — stability margin per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486400" cy="1828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2F3B4A"/>
                </a:solidFill>
                <a:latin typeface="Calibri"/>
              </a:rPr>
              <a:t>▸  Bisection on NAV haircut for every covenant.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2F3B4A"/>
                </a:solidFill>
                <a:latin typeface="Calibri"/>
              </a:rPr>
              <a:t>▸  O(covenants × log(1/tol)) — fast even at scale.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2F3B4A"/>
                </a:solidFill>
                <a:latin typeface="Calibri"/>
              </a:rPr>
              <a:t>▸  Returns the smallest haircut that flips each covenant to 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54864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Headline finding (sample fund)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5486400" cy="22860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2F3B4A"/>
                </a:solidFill>
                <a:latin typeface="Calibri"/>
              </a:rPr>
              <a:t>▸  Health Factor binds today (0% haircut).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2F3B4A"/>
                </a:solidFill>
                <a:latin typeface="Calibri"/>
              </a:rPr>
              <a:t>▸  BB and Utilization both at 11.2% NAV drop.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2F3B4A"/>
                </a:solidFill>
                <a:latin typeface="Calibri"/>
              </a:rPr>
              <a:t>▸  Max LTV at 36.9% — 25 percentage points further away.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2F3B4A"/>
                </a:solidFill>
                <a:latin typeface="Calibri"/>
              </a:rPr>
              <a:t>▸  Asset / sector concentration are invariant under uniform NAV drop (need single-sector shock).</a:t>
            </a:r>
          </a:p>
        </p:txBody>
      </p:sp>
      <p:pic>
        <p:nvPicPr>
          <p:cNvPr id="9" name="Picture 8" descr="reverse_st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852160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000" b="0">
                <a:solidFill>
                  <a:srgbClr val="808B9C"/>
                </a:solidFill>
                <a:latin typeface="Calibri"/>
              </a:rPr>
              <a:t>Fund Finance Facility Risk Monitor  |  Synthetic data — illustrative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000" b="0">
                <a:solidFill>
                  <a:srgbClr val="808B9C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Sample run — NAV facility on Project Alpha Fund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808B9C"/>
                </a:solidFill>
                <a:latin typeface="Calibri"/>
              </a:rPr>
              <a:t>Four eligible LPs, five sector-diverse assets, intentionally tight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Facility state today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5486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Borrowing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33.75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after liquidity haircut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Drawn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30.00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Availability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3.75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very tight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Utilization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88.9%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LTV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15.8%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well under 25% cap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Health Factor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0.956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RED — margin call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Liquidity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5.17x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Distance-to-breach ranking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783080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Covenant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Breaks at NAV drop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Health Factor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0.0%  ← BINDING TODAY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BB headroom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11.2%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Utilization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11.2%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Max LTV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36.9%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Liquidity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80.7%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Asset / sector / #assets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B4A"/>
                          </a:solidFill>
                          <a:latin typeface="Calibri"/>
                        </a:rPr>
                        <a:t>never under uniform haircut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566928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Binding constraint is the Health Factor — not the LTV.  Without reverse stress per covenant you would miss this.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000" b="0">
                <a:solidFill>
                  <a:srgbClr val="808B9C"/>
                </a:solidFill>
                <a:latin typeface="Calibri"/>
              </a:rPr>
              <a:t>Fund Finance Facility Risk Monitor  |  Synthetic data — illustrative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000" b="0">
                <a:solidFill>
                  <a:srgbClr val="808B9C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Three stress views, one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808B9C"/>
                </a:solidFill>
                <a:latin typeface="Calibri"/>
              </a:rPr>
              <a:t>Step input, ramp input, noise input — through the same plant</a:t>
            </a:r>
          </a:p>
        </p:txBody>
      </p:sp>
      <p:pic>
        <p:nvPicPr>
          <p:cNvPr id="5" name="Picture 4" descr="stres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760720" cy="32404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394960"/>
            <a:ext cx="576072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200" b="0">
                <a:solidFill>
                  <a:srgbClr val="808B9C"/>
                </a:solidFill>
                <a:latin typeface="Calibri"/>
              </a:rPr>
              <a:t>Deterministic sweep — LTV and availability vs NAV haircut</a:t>
            </a:r>
          </a:p>
        </p:txBody>
      </p:sp>
      <p:pic>
        <p:nvPicPr>
          <p:cNvPr id="7" name="Picture 6" descr="reverse_st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5577840" cy="31375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5394960"/>
            <a:ext cx="557784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200" b="0">
                <a:solidFill>
                  <a:srgbClr val="808B9C"/>
                </a:solidFill>
                <a:latin typeface="Calibri"/>
              </a:rPr>
              <a:t>Reverse stress — distance-to-breach per covenant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52160"/>
            <a:ext cx="10972800" cy="5486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400" b="0">
                <a:solidFill>
                  <a:srgbClr val="2F3B4A"/>
                </a:solidFill>
                <a:latin typeface="Calibri"/>
              </a:rPr>
              <a:t>Multi-factor MC adds the third view: probability of breach, VaR(95), CVaR(99) and which sector is driving the tail. Three independent views; never trust one alone.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000" b="0">
                <a:solidFill>
                  <a:srgbClr val="808B9C"/>
                </a:solidFill>
                <a:latin typeface="Calibri"/>
              </a:rPr>
              <a:t>Fund Finance Facility Risk Monitor  |  Synthetic data — illustrative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000" b="0">
                <a:solidFill>
                  <a:srgbClr val="808B9C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Engineering ↔ fund finance isomorphism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808B9C"/>
                </a:solidFill>
                <a:latin typeface="Calibri"/>
              </a:rPr>
              <a:t>Why an EE perspective is structural, not decorative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7982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Fund-finance concept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EE concept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Same problem solved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Advance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Derating factor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Margin against operating 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EL weight (PD × LGD)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Continuous gain function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Avoid step changes in main loop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Liquidity haircut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Bandwidth-limited signal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Discount slow / noisy inputs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Borrowing base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Plant capacity estimate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Safe operating envelope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Health Factor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Stability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Normalised distance to instability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Covenant alarm (AMBER)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Pre-trip alarm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Detect before fault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Covenant breach (RED)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Trip threshold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Open the breaker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Cure period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Time-graded trip delay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Avoid nuisance trips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HF-aware cure (shorter when worse)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Inverse-time overcurrent relay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Faster trip closer to fault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Reverse stress per covenant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Per-loop stability margin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Find the weakest loop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Multi-factor MC attribution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Cross-PSD noise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Decompose disturbance 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98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Margin call → default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Two-stage breaker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3B4A"/>
                          </a:solidFill>
                          <a:latin typeface="Calibri"/>
                        </a:rPr>
                        <a:t>Graduated protection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000" b="0">
                <a:solidFill>
                  <a:srgbClr val="808B9C"/>
                </a:solidFill>
                <a:latin typeface="Calibri"/>
              </a:rPr>
              <a:t>Fund Finance Facility Risk Monitor  |  Synthetic data — illustrative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000" b="0">
                <a:solidFill>
                  <a:srgbClr val="808B9C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5486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200" b="1">
                <a:solidFill>
                  <a:srgbClr val="E5A839"/>
                </a:solidFill>
                <a:latin typeface="Calibri"/>
              </a:rPr>
              <a:t>30-second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  <a:latin typeface="Calibri"/>
              </a:rPr>
              <a:t>"I built a fund-finance facility risk monitor. Because fund finance is a fusion problem with no ready library, I decomposed it into six layers — data validation, a Basel-IRB-style expected-loss weighting on subscription collateral, a borrowing base with an Aave-style Health Factor, reverse-stress-per-covenant ranking, and a multi-factor Monte Carlo with sector correlations giving VaR and CVaR.
My EE background means I treat each piece as one part of a feedback control system: covenants are protective relays with an alarm band and a timed trip, the advance rate is a derating curve not a cliff, the Health Factor is a stability margin, and reverse stress is per-loop stability ranking.
One result on the synthetic fund: a single-shock Monte Carlo says 22% breach probability; the multi-factor Monte Carlo says effectively zero — but CVaR(99) on LTV is still 22%, right at the covenant. Two views, two stories, both true. A lender’s view: protect principal, rank constraints, don’t forecast returns."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Ways to extend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808B9C"/>
                </a:solidFill>
                <a:latin typeface="Calibri"/>
              </a:rPr>
              <a:t>Roadmap items, each with a known open-source / industry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Calibri"/>
              </a:rPr>
              <a:t>Trained PD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100" b="0">
                <a:solidFill>
                  <a:srgbClr val="2F3B4A"/>
                </a:solidFill>
                <a:latin typeface="Calibri"/>
              </a:rPr>
              <a:t>Replace rating-table lookup with logistic regression or XGBoost trained on borrower features — interface already exposed at credit_scoring.estimate_pd.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11247120" cy="3200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Calibri"/>
              </a:rPr>
              <a:t>Multi-period MC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11247120" cy="4114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100" b="0">
                <a:solidFill>
                  <a:srgbClr val="2F3B4A"/>
                </a:solidFill>
                <a:latin typeface="Calibri"/>
              </a:rPr>
              <a:t>Daily random-walk over the horizon; demonstrates the HF-aware cure window numerically; matches CCAR base / adverse / severe scenario libraries.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11247120" cy="3200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Calibri"/>
              </a:rPr>
              <a:t>LP-default scenarios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11247120" cy="4114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100" b="0">
                <a:solidFill>
                  <a:srgbClr val="2F3B4A"/>
                </a:solidFill>
                <a:latin typeface="Calibri"/>
              </a:rPr>
              <a:t>drop_lp() helper plus reverse-stress engine → 'what NAV drop breaks each covenant if LP X defaults?'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11880"/>
            <a:ext cx="11247120" cy="3200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Calibri"/>
              </a:rPr>
              <a:t>Per-sector reverse stress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11247120" cy="4114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100" b="0">
                <a:solidFill>
                  <a:srgbClr val="2F3B4A"/>
                </a:solidFill>
                <a:latin typeface="Calibri"/>
              </a:rPr>
              <a:t>Single-sector shock instead of uniform haircut → asset / sector concentration covenants become reachable.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11247120" cy="3200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Calibri"/>
              </a:rPr>
              <a:t>Streamlit / FastAPI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09160"/>
            <a:ext cx="11247120" cy="4114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100" b="0">
                <a:solidFill>
                  <a:srgbClr val="2F3B4A"/>
                </a:solidFill>
                <a:latin typeface="Calibri"/>
              </a:rPr>
              <a:t>Same engine, web UI, live re-calculation per facility, ranked daily.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166360"/>
            <a:ext cx="11247120" cy="3200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Calibri"/>
              </a:rPr>
              <a:t>Historical calibration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86400"/>
            <a:ext cx="11247120" cy="4114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100" b="0">
                <a:solidFill>
                  <a:srgbClr val="2F3B4A"/>
                </a:solidFill>
                <a:latin typeface="Calibri"/>
              </a:rPr>
              <a:t>Estimate sector vols and correlations from real PE-fund NAV history; replace MSCI-Barra approximations.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000" b="0">
                <a:solidFill>
                  <a:srgbClr val="808B9C"/>
                </a:solidFill>
                <a:latin typeface="Calibri"/>
              </a:rPr>
              <a:t>Fund Finance Facility Risk Monitor  |  Synthetic data — illustrative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000" b="0">
                <a:solidFill>
                  <a:srgbClr val="808B9C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